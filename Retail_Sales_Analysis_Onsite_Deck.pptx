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8B2F"/>
                </a:solidFill>
                <a:latin typeface="Calibri"/>
              </a:defRPr>
            </a:pPr>
            <a:r>
              <a:t>SENIOR DATA ANALYST  ·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Retail Sales Performance &amp;</a:t>
            </a:r>
            <a:br/>
            <a:r>
              <a:t>Customer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Hybrid ELT  ·  Snowflake star-schema mart  ·  Tableau dashboard  ·  Daily incremental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8B2F"/>
                </a:solidFill>
                <a:latin typeface="Calibri"/>
              </a:defRPr>
            </a:pPr>
            <a:r>
              <a:t>On-site presentation  |  Architecture, data quality, and decision-ready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Calibri"/>
              </a:defRPr>
            </a:pPr>
            <a:r>
              <a:t>What we are here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Where is revenue coming from — store, region, hour, payment, member vs guest?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Which members are at risk of churn, and what is a defensible churn definition?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Which products, discounts, and baskets actually move the P&amp;L?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Can leadership trust the feed? (~56% of sales headers arrive without line items.)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If this landed every day, how would production ingest, replay, and report on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Architecture: hybrid ELT, not a one-off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19456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A8C"/>
                </a:solidFill>
                <a:latin typeface="Calibri"/>
              </a:defRPr>
            </a:pPr>
            <a:r>
              <a:t>1. 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landing/YYYY-MM-DD</a:t>
            </a:r>
            <a:br/>
            <a:r>
              <a:t>Excel + JSON drop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219456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A8C"/>
                </a:solidFill>
                <a:latin typeface="Calibri"/>
              </a:defRPr>
            </a:pPr>
            <a:r>
              <a:t>2.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7451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Contract + DQ</a:t>
            </a:r>
            <a:br/>
            <a:r>
              <a:t>RAW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219456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A8C"/>
                </a:solidFill>
                <a:latin typeface="Calibri"/>
              </a:defRPr>
            </a:pPr>
            <a:r>
              <a:t>3. Snowflake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VARIANT flatten</a:t>
            </a:r>
            <a:br/>
            <a:r>
              <a:t>Star schema mart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651760" cy="219456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A8C"/>
                </a:solidFill>
                <a:latin typeface="Calibri"/>
              </a:defRPr>
            </a:pPr>
            <a:r>
              <a:t>4. 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7451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Tableau Desktop live</a:t>
            </a:r>
            <a:br/>
            <a:r>
              <a:t>Public = extracts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RAW is the audit copy of the file that arrived today. Marts are rebuilt from RAW.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Python parses files; Snowflake owns modeling, JSON flatten, and incremental MERGE-by-key.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Tableau Public cannot connect to Snowflake — extracts are the publish path; live query is the production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Why ELT, and why a star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A8C"/>
                </a:solidFill>
                <a:latin typeface="Calibri"/>
              </a:defRPr>
            </a:pPr>
            <a:r>
              <a:t>ELT (with a thin extract)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Replay: change a business rule without re-reading Excel.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Audit: RAW proves what the daily file contained.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JSON: VARIANT + LATERAL FLATTEN is native.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Scale: transforms run in the warehouse.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Python still owns file contracts: $ / pcs / %, Unnamed: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A8C"/>
                </a:solidFill>
                <a:latin typeface="Calibri"/>
              </a:defRPr>
            </a:pPr>
            <a:r>
              <a:t>Star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fact_sales = one sale. fact_sales_items = one line.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Dims: date, store (+ cashier), product, customer, payment.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Guests: customer key is NULL. Never invent a customer.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YTD / MTD / QTD / MoM need dim_date.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Tableau filters on dims without blowing grain.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Daily files and nested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A8C"/>
                </a:solidFill>
                <a:latin typeface="Calibri"/>
              </a:defRPr>
            </a:pPr>
            <a:r>
              <a:t>Incremental 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landing/2026-10-10/  then  landing/2026-10-11/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Job flag: --as-of-date YYYY-MM-DD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RAW stamped with _LOAD_DATE, _FILE_NAME, _INGESTED_AT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MERGE on SALE_ID / ITEM_ID / CUSTOMER_ID; newer UPDATE_DATE wins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Re-running the same folder is idempotent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A8C"/>
                </a:solidFill>
                <a:latin typeface="Calibri"/>
              </a:defRPr>
            </a:pPr>
            <a:r>
              <a:t>JSON → relational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RAW.CUSTOMERS.PAYLOAD as VARIANT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LATERAL FLATTEN Phones → dim_customer_phone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dim_customer keeps the Active phone for joins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Tableau never queries nested JSON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100 customers have an extra Inactive number — preserved, not dropped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Data quality: treat the feed as a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ITEM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44.4%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Headers with a basket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PRICE / QTY /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2,800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Dirty cells parsed in staging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GUEST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Never fabricate a 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CASHIER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1 : 1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Not independent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1460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Unnamed: 9 is Customer ID — present for every Member, absent for every Guest.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Line-item file only covers Sale_ID 100000–126666. Product KPIs are filtered with HAS_LINE_ITEMS.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This is an operations finding: the items feed is lagging or truncated, not a reason to drop 33k sales.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Gender = Unknown (569) is kept as its own segment.</a:t>
            </a:r>
          </a:p>
        </p:txBody>
      </p:sp>
      <p:pic>
        <p:nvPicPr>
          <p:cNvPr id="21" name="Picture 20" descr="feed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977639"/>
            <a:ext cx="1124712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Sales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60,000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6 stores  ·  2025-01-01 – 2026-06-30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0584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REVENUE (WITH 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371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$2.24M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202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Headers without lines excluded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AVG BASKET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371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$84.17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202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19.6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00584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0789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MEMBER / GUEST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1371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33,043 / 26,957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9202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Txn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68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A8C"/>
                </a:solidFill>
                <a:latin typeface="Calibri"/>
              </a:defRPr>
            </a:pPr>
            <a:r>
              <a:t>Store = cashier in this extract. Rank stores, not people.</a:t>
            </a:r>
          </a:p>
        </p:txBody>
      </p:sp>
      <p:pic>
        <p:nvPicPr>
          <p:cNvPr id="21" name="Picture 20" descr="stor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88920"/>
            <a:ext cx="11247120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Member churn (definition first)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13,993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Joined from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CHURNED 90D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9,371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67.0% of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AVG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Purchases per 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AVG RECENCY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184d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Since last 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Definition: Member with no purchase in the 90 days before the snapshot (max sale date). Guests cannot churn.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Members buy about 2.4 times in 18 months, so a flat 90-day rule flags most of them. Win back the high-monetary band only.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Dollar value is item revenue. Tickets with no lines add a visit but $0, so CLV is understated until the items feed is fixed.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RFM quintiles are in mart_customer_rfm for the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Assortment, discount, frequently bought together</a:t>
            </a:r>
          </a:p>
        </p:txBody>
      </p:sp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0664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051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A8C"/>
                </a:solidFill>
                <a:latin typeface="Calibri"/>
              </a:defRPr>
            </a:pPr>
            <a:r>
              <a:t>Highest-lift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Frozen Pizza + Greek Yogurt  ·  lift 0.78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Ground Beef (1lb) + Chicken Breast (1lb)  ·  lift 0.77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White Bread + Paper Towels (6pk)  ·  lift 0.77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Coffee Beans (12oz) + Orange Juice (64oz)  ·  lift 0.77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Ground Beef (1lb) + Sparkling Water (12pk)  ·  lift 0.75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Time, payment, unusual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PEAK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Sunday 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582 txns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UNUSUAL TXNS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1,308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|z|≥3 or high-discount bulk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LAST MONTH MoM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-2.6%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2026-06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051560"/>
            <a:ext cx="2651760" cy="132588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124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A5A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141731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A"/>
                </a:solidFill>
                <a:latin typeface="Calibri"/>
              </a:defRPr>
            </a:pPr>
            <a:r>
              <a:t>3-way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965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7A8C"/>
                </a:solidFill>
                <a:latin typeface="Calibri"/>
              </a:defRPr>
            </a:pPr>
            <a:r>
              <a:t>Cash / Debit / Credit roughly even</a:t>
            </a:r>
          </a:p>
        </p:txBody>
      </p:sp>
      <p:pic>
        <p:nvPicPr>
          <p:cNvPr id="20" name="Picture 19" descr="hour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0"/>
            <a:ext cx="11247120" cy="37490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Dashboard and what you will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Open extracts/tableau_public_pack.xlsx in Tableau Public Desktop (cannot live-query Snowflake).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Pages: Executive KPI · Store &amp; hour · Members &amp; churn · Product &amp; basket · Feed completeness.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Publish to https://public.tableau.com/app/profile/maf345/vizzes.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If a licensed Tableau Desktop is available later, point it at RETAIL_SALES.MART — same grain, no remodel.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Filters to keep: date, region, member/guest, HAS_LINE_ITEMS for product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A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Fix the items feed SLA — 55%+ of sales cannot support product, discount, or basket analytics.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Run a 90-day win-back on churned members in the high monetary RFM band.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Treat cashier KPIs as store KPIs until the grain changes.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Keep RAW forever; rebuild marts. That is how you survive a logic change the night before a client review.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  <a:latin typeface="Calibri"/>
              </a:defRPr>
            </a:pPr>
            <a:r>
              <a:t>Production path: Snowflake live → Tableau Desktop. Public extracts are the interview publish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5A5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  <a:latin typeface="Calibri"/>
              </a:defRPr>
            </a:pPr>
            <a:r>
              <a:t>Retail Sales Case  |  Hybrid ELT  |  Snowflake mart  |  Tableau Public extracts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